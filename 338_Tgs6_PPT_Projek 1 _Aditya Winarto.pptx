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Overpass Light" charset="1" panose="00000400000000000000"/>
      <p:regular r:id="rId30"/>
    </p:embeddedFont>
    <p:embeddedFont>
      <p:font typeface="Cormorant Garamond Bold" charset="1" panose="00000800000000000000"/>
      <p:regular r:id="rId31"/>
    </p:embeddedFont>
    <p:embeddedFont>
      <p:font typeface="Overpass Light Bold" charset="1" panose="00000500000000000000"/>
      <p:regular r:id="rId32"/>
    </p:embeddedFont>
    <p:embeddedFont>
      <p:font typeface="Public Sans Bold" charset="1" panose="00000000000000000000"/>
      <p:regular r:id="rId33"/>
    </p:embeddedFont>
    <p:embeddedFont>
      <p:font typeface="Public Sans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www.investing.com/currencies/eur-usd-historical-data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833539"/>
            <a:ext cx="16230600" cy="628622"/>
            <a:chOff x="0" y="0"/>
            <a:chExt cx="21640800" cy="838163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1640800" cy="41400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5852433" y="476445"/>
              <a:ext cx="5788367" cy="361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6672463" y="5034406"/>
            <a:ext cx="955485" cy="218188"/>
            <a:chOff x="0" y="0"/>
            <a:chExt cx="1273980" cy="290918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1544830" y="4288272"/>
            <a:ext cx="14144227" cy="205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1A1B18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ADITYA WINARTO</a:t>
            </a:r>
          </a:p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1A1B18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23051204338 </a:t>
            </a:r>
          </a:p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1A1B18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TI J 2023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839" y="1274303"/>
            <a:ext cx="545653" cy="44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FAFAFA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6414" y="1436228"/>
            <a:ext cx="3445286" cy="39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</a:pPr>
            <a:r>
              <a:rPr lang="en-US" b="true" sz="2800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SAINS KOMPUTASI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833539"/>
            <a:ext cx="16230600" cy="628622"/>
            <a:chOff x="0" y="0"/>
            <a:chExt cx="21640800" cy="838163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1640800" cy="41400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5852433" y="476445"/>
              <a:ext cx="5788367" cy="361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6672463" y="5034406"/>
            <a:ext cx="955485" cy="218188"/>
            <a:chOff x="0" y="0"/>
            <a:chExt cx="1273980" cy="290918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808030" y="3308445"/>
            <a:ext cx="11716860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7499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EURUSD</a:t>
            </a:r>
          </a:p>
          <a:p>
            <a:pPr algn="l">
              <a:lnSpc>
                <a:spcPts val="7499"/>
              </a:lnSpc>
            </a:pPr>
            <a:r>
              <a:rPr lang="en-US" sz="7499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MULTIPLE LINIER REGRESSION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839" y="1274303"/>
            <a:ext cx="545653" cy="44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FAFAFA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6414" y="1436228"/>
            <a:ext cx="3445286" cy="39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</a:pPr>
            <a:r>
              <a:rPr lang="en-US" b="true" sz="2800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SAINS KOMPUTASI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3571" y="1142776"/>
            <a:ext cx="11738426" cy="135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Latar Belakang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9839" y="1274303"/>
            <a:ext cx="545653" cy="43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FAFAFA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III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1004923" y="8671463"/>
            <a:ext cx="955485" cy="218188"/>
            <a:chOff x="0" y="0"/>
            <a:chExt cx="1273980" cy="290918"/>
          </a:xfrm>
        </p:grpSpPr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3322608" y="7132698"/>
            <a:ext cx="13577977" cy="1170117"/>
            <a:chOff x="0" y="0"/>
            <a:chExt cx="18103970" cy="1560156"/>
          </a:xfrm>
        </p:grpSpPr>
        <p:sp>
          <p:nvSpPr>
            <p:cNvPr name="AutoShape 12" id="12"/>
            <p:cNvSpPr/>
            <p:nvPr/>
          </p:nvSpPr>
          <p:spPr>
            <a:xfrm rot="0">
              <a:off x="0" y="0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456215"/>
              <a:ext cx="18103970" cy="623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3000" spc="-45" b="true">
                  <a:solidFill>
                    <a:srgbClr val="1A1B1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volatilitas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rot="0">
              <a:off x="0" y="1518691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322608" y="2732759"/>
            <a:ext cx="13577977" cy="1170117"/>
            <a:chOff x="0" y="0"/>
            <a:chExt cx="18103970" cy="1560156"/>
          </a:xfrm>
        </p:grpSpPr>
        <p:sp>
          <p:nvSpPr>
            <p:cNvPr name="AutoShape 16" id="16"/>
            <p:cNvSpPr/>
            <p:nvPr/>
          </p:nvSpPr>
          <p:spPr>
            <a:xfrm rot="0">
              <a:off x="0" y="0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456215"/>
              <a:ext cx="18103970" cy="623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50"/>
                </a:lnSpc>
                <a:spcBef>
                  <a:spcPct val="0"/>
                </a:spcBef>
              </a:pPr>
              <a:r>
                <a:rPr lang="en-US" b="true" sz="3000" spc="-45" strike="noStrike" u="none">
                  <a:solidFill>
                    <a:srgbClr val="1A1B1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ekonomi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rot="0">
              <a:off x="0" y="1518691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322608" y="4200365"/>
            <a:ext cx="13577977" cy="1170117"/>
            <a:chOff x="0" y="0"/>
            <a:chExt cx="18103970" cy="1560156"/>
          </a:xfrm>
        </p:grpSpPr>
        <p:sp>
          <p:nvSpPr>
            <p:cNvPr name="AutoShape 20" id="20"/>
            <p:cNvSpPr/>
            <p:nvPr/>
          </p:nvSpPr>
          <p:spPr>
            <a:xfrm rot="0">
              <a:off x="0" y="0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456215"/>
              <a:ext cx="18103970" cy="623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3000" spc="-45" b="true">
                  <a:solidFill>
                    <a:srgbClr val="1A1B1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popularitas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rot="0">
              <a:off x="0" y="1518691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322608" y="5665758"/>
            <a:ext cx="13577977" cy="1170117"/>
            <a:chOff x="0" y="0"/>
            <a:chExt cx="18103970" cy="1560156"/>
          </a:xfrm>
        </p:grpSpPr>
        <p:sp>
          <p:nvSpPr>
            <p:cNvPr name="AutoShape 24" id="24"/>
            <p:cNvSpPr/>
            <p:nvPr/>
          </p:nvSpPr>
          <p:spPr>
            <a:xfrm rot="0">
              <a:off x="0" y="0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456215"/>
              <a:ext cx="18103970" cy="623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3000" spc="-45" b="true">
                  <a:solidFill>
                    <a:srgbClr val="1A1B1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likuiditas</a:t>
              </a:r>
            </a:p>
          </p:txBody>
        </p:sp>
        <p:sp>
          <p:nvSpPr>
            <p:cNvPr name="AutoShape 26" id="26"/>
            <p:cNvSpPr/>
            <p:nvPr/>
          </p:nvSpPr>
          <p:spPr>
            <a:xfrm rot="0">
              <a:off x="0" y="1518691"/>
              <a:ext cx="18103970" cy="41466"/>
            </a:xfrm>
            <a:prstGeom prst="rect">
              <a:avLst/>
            </a:prstGeom>
            <a:solidFill>
              <a:srgbClr val="CDA63C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5101578"/>
            <a:ext cx="16230600" cy="29294"/>
          </a:xfrm>
          <a:prstGeom prst="rect">
            <a:avLst/>
          </a:prstGeom>
          <a:solidFill>
            <a:srgbClr val="CDA63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1114425"/>
            <a:ext cx="10704587" cy="135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Dataset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96159" y="5672098"/>
            <a:ext cx="420642" cy="382784"/>
          </a:xfrm>
          <a:custGeom>
            <a:avLst/>
            <a:gdLst/>
            <a:ahLst/>
            <a:cxnLst/>
            <a:rect r="r" b="b" t="t" l="l"/>
            <a:pathLst>
              <a:path h="382784" w="420642">
                <a:moveTo>
                  <a:pt x="0" y="0"/>
                </a:moveTo>
                <a:lnTo>
                  <a:pt x="420642" y="0"/>
                </a:lnTo>
                <a:lnTo>
                  <a:pt x="420642" y="382785"/>
                </a:lnTo>
                <a:lnTo>
                  <a:pt x="0" y="382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6480" y="3163392"/>
            <a:ext cx="10102919" cy="64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>
                <a:solidFill>
                  <a:srgbClr val="1A1B18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Data yang digunakan ada adalah data EUR/USD dalam rentang waktu 1 Januari 2024 sampai dengan 30 September 2024 sebanyak 170 data. Data ini diambil dari website </a:t>
            </a:r>
            <a:r>
              <a:rPr lang="en-US" sz="1734" u="sng">
                <a:solidFill>
                  <a:srgbClr val="1A1B18"/>
                </a:solidFill>
                <a:latin typeface="Overpass Light"/>
                <a:ea typeface="Overpass Light"/>
                <a:cs typeface="Overpass Light"/>
                <a:sym typeface="Overpass Light"/>
                <a:hlinkClick r:id="rId4" tooltip="https://www.investing.com/currencies/eur-usd-historical-data"/>
              </a:rPr>
              <a:t>investing.com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96159" y="6622280"/>
            <a:ext cx="420642" cy="382784"/>
          </a:xfrm>
          <a:custGeom>
            <a:avLst/>
            <a:gdLst/>
            <a:ahLst/>
            <a:cxnLst/>
            <a:rect r="r" b="b" t="t" l="l"/>
            <a:pathLst>
              <a:path h="382784" w="420642">
                <a:moveTo>
                  <a:pt x="0" y="0"/>
                </a:moveTo>
                <a:lnTo>
                  <a:pt x="420642" y="0"/>
                </a:lnTo>
                <a:lnTo>
                  <a:pt x="420642" y="382785"/>
                </a:lnTo>
                <a:lnTo>
                  <a:pt x="0" y="382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4595" y="5686499"/>
            <a:ext cx="3298954" cy="3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spc="-28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datanya kredible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96159" y="7484406"/>
            <a:ext cx="420642" cy="382784"/>
          </a:xfrm>
          <a:custGeom>
            <a:avLst/>
            <a:gdLst/>
            <a:ahLst/>
            <a:cxnLst/>
            <a:rect r="r" b="b" t="t" l="l"/>
            <a:pathLst>
              <a:path h="382784" w="420642">
                <a:moveTo>
                  <a:pt x="0" y="0"/>
                </a:moveTo>
                <a:lnTo>
                  <a:pt x="420642" y="0"/>
                </a:lnTo>
                <a:lnTo>
                  <a:pt x="420642" y="382785"/>
                </a:lnTo>
                <a:lnTo>
                  <a:pt x="0" y="382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4595" y="6636681"/>
            <a:ext cx="3298954" cy="3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spc="-28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data diupdate secara real time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4595" y="7498807"/>
            <a:ext cx="5117524" cy="36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spc="-28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memiliki banyak pilihan instrumen pasar modal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18300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814423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493118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768122" y="2033587"/>
          <a:ext cx="13893275" cy="7486650"/>
        </p:xfrm>
        <a:graphic>
          <a:graphicData uri="http://schemas.openxmlformats.org/drawingml/2006/table">
            <a:tbl>
              <a:tblPr/>
              <a:tblGrid>
                <a:gridCol w="2951039"/>
                <a:gridCol w="2222009"/>
                <a:gridCol w="2893191"/>
                <a:gridCol w="3377062"/>
                <a:gridCol w="2449974"/>
              </a:tblGrid>
              <a:tr h="1069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Date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Price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Open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High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Low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08/30/2024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1.1047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1.1077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1.1095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1.1044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08/29/2024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1.1077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1.1119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1.1141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1.1055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08/28/2024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1.1120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1.1184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1.1186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1.1105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08/27/2024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1.1184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1.1161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1.1191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1.1150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08/26/2024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1.1161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1.1188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1.1202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1.1150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08/23/2024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1.1190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1.1113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1.1200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1.1105</a:t>
                      </a:r>
                    </a:p>
                    <a:p>
                      <a:pPr algn="l">
                        <a:lnSpc>
                          <a:spcPts val="2099"/>
                        </a:lnSpc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  </a:t>
                      </a:r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318400" y="585413"/>
            <a:ext cx="639635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9116" y="3027086"/>
          <a:ext cx="9554748" cy="3409950"/>
        </p:xfrm>
        <a:graphic>
          <a:graphicData uri="http://schemas.openxmlformats.org/drawingml/2006/table">
            <a:tbl>
              <a:tblPr/>
              <a:tblGrid>
                <a:gridCol w="1910950"/>
                <a:gridCol w="1910950"/>
                <a:gridCol w="1910950"/>
                <a:gridCol w="2010959"/>
                <a:gridCol w="1810940"/>
              </a:tblGrid>
              <a:tr h="16981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x1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x2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x3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x4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y 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18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1.11530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1.11840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1.11130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1.11464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1.10470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114425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Dataset MLR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171406" y="3027086"/>
            <a:ext cx="5280752" cy="1702848"/>
            <a:chOff x="0" y="0"/>
            <a:chExt cx="7041002" cy="227046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84775"/>
              <a:ext cx="7041002" cy="48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1971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rata rata harga pembukaan 5 hari sebelumnya </a:t>
              </a:r>
            </a:p>
          </p:txBody>
        </p:sp>
        <p:sp>
          <p:nvSpPr>
            <p:cNvPr name="AutoShape 6" id="6"/>
            <p:cNvSpPr/>
            <p:nvPr/>
          </p:nvSpPr>
          <p:spPr>
            <a:xfrm rot="0">
              <a:off x="0" y="0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1126606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55695"/>
              <a:ext cx="226738" cy="255950"/>
            </a:xfrm>
            <a:custGeom>
              <a:avLst/>
              <a:gdLst/>
              <a:ahLst/>
              <a:cxnLst/>
              <a:rect r="r" b="b" t="t" l="l"/>
              <a:pathLst>
                <a:path h="255950" w="226738">
                  <a:moveTo>
                    <a:pt x="0" y="0"/>
                  </a:moveTo>
                  <a:lnTo>
                    <a:pt x="226738" y="0"/>
                  </a:lnTo>
                  <a:lnTo>
                    <a:pt x="226738" y="255950"/>
                  </a:lnTo>
                  <a:lnTo>
                    <a:pt x="0" y="25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99203" y="248628"/>
              <a:ext cx="6441799" cy="584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3"/>
                </a:lnSpc>
              </a:pPr>
              <a:r>
                <a:rPr lang="en-US" sz="2464" spc="-36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X1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71406" y="5143500"/>
            <a:ext cx="5280752" cy="1702848"/>
            <a:chOff x="0" y="0"/>
            <a:chExt cx="7041002" cy="227046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784775"/>
              <a:ext cx="7041002" cy="48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1971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rata rata harga tertinggi 5 hari sebelumnya </a:t>
              </a:r>
            </a:p>
          </p:txBody>
        </p:sp>
        <p:sp>
          <p:nvSpPr>
            <p:cNvPr name="AutoShape 12" id="12"/>
            <p:cNvSpPr/>
            <p:nvPr/>
          </p:nvSpPr>
          <p:spPr>
            <a:xfrm rot="0">
              <a:off x="0" y="0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3" id="13"/>
            <p:cNvSpPr/>
            <p:nvPr/>
          </p:nvSpPr>
          <p:spPr>
            <a:xfrm rot="0">
              <a:off x="0" y="1126606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455695"/>
              <a:ext cx="226738" cy="255950"/>
            </a:xfrm>
            <a:custGeom>
              <a:avLst/>
              <a:gdLst/>
              <a:ahLst/>
              <a:cxnLst/>
              <a:rect r="r" b="b" t="t" l="l"/>
              <a:pathLst>
                <a:path h="255950" w="226738">
                  <a:moveTo>
                    <a:pt x="0" y="0"/>
                  </a:moveTo>
                  <a:lnTo>
                    <a:pt x="226738" y="0"/>
                  </a:lnTo>
                  <a:lnTo>
                    <a:pt x="226738" y="255950"/>
                  </a:lnTo>
                  <a:lnTo>
                    <a:pt x="0" y="25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599203" y="248628"/>
              <a:ext cx="6441799" cy="584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3"/>
                </a:lnSpc>
              </a:pPr>
              <a:r>
                <a:rPr lang="en-US" sz="2464" spc="-36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X2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71406" y="7259914"/>
            <a:ext cx="5280752" cy="1702848"/>
            <a:chOff x="0" y="0"/>
            <a:chExt cx="7041002" cy="227046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784775"/>
              <a:ext cx="7041002" cy="48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1971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Harga penutupan hari ini 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rot="0">
              <a:off x="0" y="0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9" id="19"/>
            <p:cNvSpPr/>
            <p:nvPr/>
          </p:nvSpPr>
          <p:spPr>
            <a:xfrm rot="0">
              <a:off x="0" y="1126606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55695"/>
              <a:ext cx="226738" cy="255950"/>
            </a:xfrm>
            <a:custGeom>
              <a:avLst/>
              <a:gdLst/>
              <a:ahLst/>
              <a:cxnLst/>
              <a:rect r="r" b="b" t="t" l="l"/>
              <a:pathLst>
                <a:path h="255950" w="226738">
                  <a:moveTo>
                    <a:pt x="0" y="0"/>
                  </a:moveTo>
                  <a:lnTo>
                    <a:pt x="226738" y="0"/>
                  </a:lnTo>
                  <a:lnTo>
                    <a:pt x="226738" y="255950"/>
                  </a:lnTo>
                  <a:lnTo>
                    <a:pt x="0" y="25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599203" y="248628"/>
              <a:ext cx="6441799" cy="584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3"/>
                </a:lnSpc>
              </a:pPr>
              <a:r>
                <a:rPr lang="en-US" sz="2464" spc="-36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5738" y="7259914"/>
            <a:ext cx="5280752" cy="1702848"/>
            <a:chOff x="0" y="0"/>
            <a:chExt cx="7041002" cy="227046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784775"/>
              <a:ext cx="7041002" cy="48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1971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rata rata harga terendah 5 hari sebelumnya </a:t>
              </a:r>
            </a:p>
          </p:txBody>
        </p:sp>
        <p:sp>
          <p:nvSpPr>
            <p:cNvPr name="AutoShape 24" id="24"/>
            <p:cNvSpPr/>
            <p:nvPr/>
          </p:nvSpPr>
          <p:spPr>
            <a:xfrm rot="0">
              <a:off x="0" y="0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5" id="25"/>
            <p:cNvSpPr/>
            <p:nvPr/>
          </p:nvSpPr>
          <p:spPr>
            <a:xfrm rot="0">
              <a:off x="0" y="1126606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455695"/>
              <a:ext cx="226738" cy="255950"/>
            </a:xfrm>
            <a:custGeom>
              <a:avLst/>
              <a:gdLst/>
              <a:ahLst/>
              <a:cxnLst/>
              <a:rect r="r" b="b" t="t" l="l"/>
              <a:pathLst>
                <a:path h="255950" w="226738">
                  <a:moveTo>
                    <a:pt x="0" y="0"/>
                  </a:moveTo>
                  <a:lnTo>
                    <a:pt x="226738" y="0"/>
                  </a:lnTo>
                  <a:lnTo>
                    <a:pt x="226738" y="255950"/>
                  </a:lnTo>
                  <a:lnTo>
                    <a:pt x="0" y="25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599203" y="248628"/>
              <a:ext cx="6441799" cy="584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3"/>
                </a:lnSpc>
              </a:pPr>
              <a:r>
                <a:rPr lang="en-US" sz="2464" spc="-36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X3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723572" y="7259914"/>
            <a:ext cx="5280752" cy="1702848"/>
            <a:chOff x="0" y="0"/>
            <a:chExt cx="7041002" cy="227046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1784775"/>
              <a:ext cx="7041002" cy="485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9"/>
                </a:lnSpc>
              </a:pPr>
              <a:r>
                <a:rPr lang="en-US" sz="1971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rata rata harga penutupan 5 hari sebelumnya </a:t>
              </a:r>
            </a:p>
          </p:txBody>
        </p:sp>
        <p:sp>
          <p:nvSpPr>
            <p:cNvPr name="AutoShape 30" id="30"/>
            <p:cNvSpPr/>
            <p:nvPr/>
          </p:nvSpPr>
          <p:spPr>
            <a:xfrm rot="0">
              <a:off x="0" y="0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1" id="31"/>
            <p:cNvSpPr/>
            <p:nvPr/>
          </p:nvSpPr>
          <p:spPr>
            <a:xfrm rot="0">
              <a:off x="0" y="1126606"/>
              <a:ext cx="7041002" cy="40735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455695"/>
              <a:ext cx="226738" cy="255950"/>
            </a:xfrm>
            <a:custGeom>
              <a:avLst/>
              <a:gdLst/>
              <a:ahLst/>
              <a:cxnLst/>
              <a:rect r="r" b="b" t="t" l="l"/>
              <a:pathLst>
                <a:path h="255950" w="226738">
                  <a:moveTo>
                    <a:pt x="0" y="0"/>
                  </a:moveTo>
                  <a:lnTo>
                    <a:pt x="226738" y="0"/>
                  </a:lnTo>
                  <a:lnTo>
                    <a:pt x="226738" y="255950"/>
                  </a:lnTo>
                  <a:lnTo>
                    <a:pt x="0" y="255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599203" y="248628"/>
              <a:ext cx="6441799" cy="584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3"/>
                </a:lnSpc>
              </a:pPr>
              <a:r>
                <a:rPr lang="en-US" sz="2464" spc="-36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X4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1114425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Manualisasi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38370" y="2244729"/>
            <a:ext cx="7000208" cy="2377165"/>
            <a:chOff x="0" y="0"/>
            <a:chExt cx="9333611" cy="316955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3" id="13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∑X2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783558"/>
              <a:ext cx="9333611" cy="1265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184.70888</a:t>
              </a:r>
            </a:p>
            <a:p>
              <a:pPr algn="l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244729"/>
            <a:ext cx="5357595" cy="2402088"/>
            <a:chOff x="0" y="0"/>
            <a:chExt cx="7143460" cy="32027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184.21894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19" id="19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0" id="20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∑X1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4790961"/>
            <a:ext cx="5357595" cy="2340492"/>
            <a:chOff x="0" y="0"/>
            <a:chExt cx="7143460" cy="312065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783558"/>
              <a:ext cx="7143460" cy="133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183.73476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AutoShape 25" id="25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6" id="26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∑X3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38370" y="4790961"/>
            <a:ext cx="7000208" cy="2430504"/>
            <a:chOff x="0" y="0"/>
            <a:chExt cx="9333611" cy="3240673"/>
          </a:xfrm>
        </p:grpSpPr>
        <p:sp>
          <p:nvSpPr>
            <p:cNvPr name="AutoShape 30" id="30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1" id="31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∑X4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783558"/>
              <a:ext cx="9333611" cy="1337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184.21162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7221466"/>
            <a:ext cx="5357595" cy="2402088"/>
            <a:chOff x="0" y="0"/>
            <a:chExt cx="7143460" cy="320278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184.2567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37" id="37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8" id="38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∑Y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1114425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Manualisasi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38370" y="2244729"/>
            <a:ext cx="7000208" cy="2377165"/>
            <a:chOff x="0" y="0"/>
            <a:chExt cx="9333611" cy="316955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3" id="13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∑X2^2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783558"/>
              <a:ext cx="9333611" cy="1265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200.706921278</a:t>
              </a:r>
            </a:p>
            <a:p>
              <a:pPr algn="l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244729"/>
            <a:ext cx="5357595" cy="2402088"/>
            <a:chOff x="0" y="0"/>
            <a:chExt cx="7143460" cy="32027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199.643258773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19" id="19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0" id="20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∑X1^2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4790961"/>
            <a:ext cx="5357595" cy="2340492"/>
            <a:chOff x="0" y="0"/>
            <a:chExt cx="7143460" cy="312065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783558"/>
              <a:ext cx="7143460" cy="133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198.595359366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AutoShape 25" id="25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6" id="26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∑X3^2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38370" y="4790961"/>
            <a:ext cx="7000208" cy="2430504"/>
            <a:chOff x="0" y="0"/>
            <a:chExt cx="9333611" cy="3240673"/>
          </a:xfrm>
        </p:grpSpPr>
        <p:sp>
          <p:nvSpPr>
            <p:cNvPr name="AutoShape 30" id="30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1" id="31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∑X4^2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783558"/>
              <a:ext cx="9333611" cy="1337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199.628259164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7221466"/>
            <a:ext cx="5357595" cy="2402088"/>
            <a:chOff x="0" y="0"/>
            <a:chExt cx="7143460" cy="320278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199.729220730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37" id="37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8" id="38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∑Y^2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1114425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Manualisasi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38370" y="2244729"/>
            <a:ext cx="7000208" cy="2377165"/>
            <a:chOff x="0" y="0"/>
            <a:chExt cx="9333611" cy="316955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3" id="13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∑X1.X3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783558"/>
              <a:ext cx="9333611" cy="1265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199.1185124716</a:t>
              </a:r>
            </a:p>
            <a:p>
              <a:pPr algn="l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219806"/>
            <a:ext cx="5357595" cy="2402088"/>
            <a:chOff x="0" y="0"/>
            <a:chExt cx="7143460" cy="32027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200.1743083080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19" id="19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0" id="20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∑X1.X2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4790961"/>
            <a:ext cx="5357595" cy="2340492"/>
            <a:chOff x="0" y="0"/>
            <a:chExt cx="7143460" cy="312065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783558"/>
              <a:ext cx="7143460" cy="133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199.6355654316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AutoShape 25" id="25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6" id="26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∑X1.X4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38370" y="4790961"/>
            <a:ext cx="7000208" cy="2492100"/>
            <a:chOff x="0" y="0"/>
            <a:chExt cx="9333611" cy="3322799"/>
          </a:xfrm>
        </p:grpSpPr>
        <p:sp>
          <p:nvSpPr>
            <p:cNvPr name="AutoShape 30" id="30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1" id="31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∑X2.X3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783558"/>
              <a:ext cx="9333611" cy="1419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199.6482269912</a:t>
              </a:r>
            </a:p>
            <a:p>
              <a:pPr algn="l">
                <a:lnSpc>
                  <a:spcPts val="41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7221466"/>
            <a:ext cx="5357595" cy="2402088"/>
            <a:chOff x="0" y="0"/>
            <a:chExt cx="7143460" cy="320278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200.1667756120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37" id="37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8" id="38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∑X2.X4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1114425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Manualisasi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38370" y="2244729"/>
            <a:ext cx="7000208" cy="2377165"/>
            <a:chOff x="0" y="0"/>
            <a:chExt cx="9333611" cy="316955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3" id="13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∑X1.Y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783558"/>
              <a:ext cx="9333611" cy="1265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199.6831988840</a:t>
              </a:r>
            </a:p>
            <a:p>
              <a:pPr algn="l">
                <a:lnSpc>
                  <a:spcPts val="32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244729"/>
            <a:ext cx="5357595" cy="2402088"/>
            <a:chOff x="0" y="0"/>
            <a:chExt cx="7143460" cy="32027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199.1110679228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19" id="19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0" id="20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∑X3.X4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4790961"/>
            <a:ext cx="5357595" cy="2340492"/>
            <a:chOff x="0" y="0"/>
            <a:chExt cx="7143460" cy="312065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783558"/>
              <a:ext cx="7143460" cy="1337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200.2148711720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AutoShape 25" id="25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6" id="26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∑X2.Y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38370" y="4745955"/>
            <a:ext cx="7000208" cy="2430504"/>
            <a:chOff x="0" y="0"/>
            <a:chExt cx="9333611" cy="3240673"/>
          </a:xfrm>
        </p:grpSpPr>
        <p:sp>
          <p:nvSpPr>
            <p:cNvPr name="AutoShape 30" id="30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1" id="31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∑X3.Y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783558"/>
              <a:ext cx="9333611" cy="1337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199.1590628240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7221466"/>
            <a:ext cx="5357595" cy="2402088"/>
            <a:chOff x="0" y="0"/>
            <a:chExt cx="7143460" cy="320278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783558"/>
              <a:ext cx="7143460" cy="1419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199.6766258960</a:t>
              </a:r>
            </a:p>
            <a:p>
              <a:pPr algn="l">
                <a:lnSpc>
                  <a:spcPts val="4199"/>
                </a:lnSpc>
              </a:pPr>
            </a:p>
          </p:txBody>
        </p:sp>
        <p:sp>
          <p:nvSpPr>
            <p:cNvPr name="AutoShape 37" id="37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8" id="38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∑X4.Y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624681" y="2895600"/>
          <a:ext cx="13535419" cy="4114800"/>
        </p:xfrm>
        <a:graphic>
          <a:graphicData uri="http://schemas.openxmlformats.org/drawingml/2006/table">
            <a:tbl>
              <a:tblPr/>
              <a:tblGrid>
                <a:gridCol w="2350265"/>
                <a:gridCol w="2460755"/>
                <a:gridCol w="2046416"/>
                <a:gridCol w="2018794"/>
                <a:gridCol w="1935926"/>
                <a:gridCol w="2723263"/>
              </a:tblGrid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170.0000000000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184.2189400000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184.7088800000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183.7347600000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184.2116200000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184.2567000000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184.2189400000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199.6432587732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200.1743083080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199.1185124716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199.6355654316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199.6831988840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184.7088800000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200.1743083080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200.7069212784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199.6482269912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200.1667756120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200.2148711720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183.7347600000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199.1185124716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199.6482269912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198.5953593656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199.1110679228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199.1590628240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184.2116200000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199.6355654316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200.1667756120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199.1110679228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199.6282591644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199.6766258960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585413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eliminasi gauss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585413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eliminasi gauss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7414" y="2796440"/>
            <a:ext cx="14075894" cy="234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170α + 184.218940β1 + 184.708880β2 + 183.734760β3 + 184.211620β4 = 184.256700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184.218940α + 199.643259β1 + 200.174308β2 + 199.118512β3 + 199.635565β4 = 199.683199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184.708880α + 200.174308β1 + 200.706921β2 + 199.648227β3 + 200.166776β4 = 200.214871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183.734760α + 199.118512β1 + 199.648227β2 + 198.595359β3 + 199.111068β4 = 199.159063</a:t>
            </a:r>
          </a:p>
          <a:p>
            <a:pPr algn="ctr">
              <a:lnSpc>
                <a:spcPts val="3687"/>
              </a:lnSpc>
              <a:spcBef>
                <a:spcPct val="0"/>
              </a:spcBef>
            </a:pPr>
            <a:r>
              <a:rPr lang="en-US" sz="2633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184.211620α + 199.635565β1 + 200.166776β2 + 199.111068β3 + 199.628259β4 = 199.676626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28700" y="2895600"/>
          <a:ext cx="14586438" cy="4114800"/>
        </p:xfrm>
        <a:graphic>
          <a:graphicData uri="http://schemas.openxmlformats.org/drawingml/2006/table">
            <a:tbl>
              <a:tblPr/>
              <a:tblGrid>
                <a:gridCol w="2311531"/>
                <a:gridCol w="2764323"/>
                <a:gridCol w="2709083"/>
                <a:gridCol w="2653844"/>
                <a:gridCol w="2046209"/>
                <a:gridCol w="2101448"/>
              </a:tblGrid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1.0836408235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1.0865228235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1.0807927059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1.0835977647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1.0838629412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1.0081112367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0.9957074869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1.0148437644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0.9392251355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0.4053475307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1.1957469497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3.4705354104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0.8250246043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2.6536811669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0.0000000000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1.0000000000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Overpass Light"/>
                          <a:ea typeface="Overpass Light"/>
                          <a:cs typeface="Overpass Light"/>
                          <a:sym typeface="Overpass Light"/>
                        </a:rPr>
                        <a:t>2.4920103373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585413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eliminasi gauss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585413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eliminasi gauss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980776"/>
            <a:ext cx="13456942" cy="297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81"/>
              </a:lnSpc>
              <a:spcBef>
                <a:spcPct val="0"/>
              </a:spcBef>
            </a:pPr>
            <a:r>
              <a:rPr lang="en-US" sz="3344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α + 1.083641β1 + 1.086523β2 + 1.080793β3 + 1.083598β4 = 1.083863</a:t>
            </a:r>
          </a:p>
          <a:p>
            <a:pPr algn="r">
              <a:lnSpc>
                <a:spcPts val="4681"/>
              </a:lnSpc>
              <a:spcBef>
                <a:spcPct val="0"/>
              </a:spcBef>
            </a:pPr>
            <a:r>
              <a:rPr lang="en-US" sz="3344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β1 + 1.008111β2 + 0.995707β3 + 1.014844β4 = 0.939225</a:t>
            </a:r>
          </a:p>
          <a:p>
            <a:pPr algn="r">
              <a:lnSpc>
                <a:spcPts val="4681"/>
              </a:lnSpc>
              <a:spcBef>
                <a:spcPct val="0"/>
              </a:spcBef>
            </a:pPr>
            <a:r>
              <a:rPr lang="en-US" sz="3344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β2 + 0.405348β3 + 1.195747β4 = 3.470535</a:t>
            </a:r>
          </a:p>
          <a:p>
            <a:pPr algn="r">
              <a:lnSpc>
                <a:spcPts val="4681"/>
              </a:lnSpc>
              <a:spcBef>
                <a:spcPct val="0"/>
              </a:spcBef>
            </a:pPr>
            <a:r>
              <a:rPr lang="en-US" sz="3344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β3 + 0.825025β4 = 2.653681</a:t>
            </a:r>
          </a:p>
          <a:p>
            <a:pPr algn="r">
              <a:lnSpc>
                <a:spcPts val="4681"/>
              </a:lnSpc>
              <a:spcBef>
                <a:spcPct val="0"/>
              </a:spcBef>
            </a:pPr>
            <a:r>
              <a:rPr lang="en-US" sz="3344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β4 = 2.492010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0800000">
            <a:off x="15836375" y="1028700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3" id="3"/>
          <p:cNvGrpSpPr/>
          <p:nvPr/>
        </p:nvGrpSpPr>
        <p:grpSpPr>
          <a:xfrm rot="5400000">
            <a:off x="16518092" y="8671463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585413"/>
            <a:ext cx="9055579" cy="135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6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Persamaan 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2287" y="4795837"/>
            <a:ext cx="12441561" cy="57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y = 0.106662 + (-2.435378)x1 + 0.248441x2 + 0.597711x3 + 2.492010x4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04923" y="8671463"/>
            <a:ext cx="955485" cy="218188"/>
            <a:chOff x="0" y="0"/>
            <a:chExt cx="1273980" cy="290918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0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93118" y="1587"/>
              <a:ext cx="287744" cy="28774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2882833" y="1095375"/>
            <a:ext cx="9805796" cy="11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Evaluasi Performa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03035" y="2244729"/>
            <a:ext cx="7000208" cy="3462379"/>
            <a:chOff x="0" y="0"/>
            <a:chExt cx="9333611" cy="4616506"/>
          </a:xfrm>
        </p:grpSpPr>
        <p:sp>
          <p:nvSpPr>
            <p:cNvPr name="AutoShape 11" id="11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2" id="12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07923" y="243969"/>
              <a:ext cx="8725689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TSS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802608"/>
              <a:ext cx="9333611" cy="2693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TSS digunakan sebagai ukuran total variabilitas dalam data. Ini memberikan dasar untuk membandingkan seberapa baik model regresi dapat menjelaskan variasi ini.</a:t>
              </a:r>
            </a:p>
            <a:p>
              <a:pPr algn="l">
                <a:lnSpc>
                  <a:spcPts val="32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882833" y="2244729"/>
            <a:ext cx="5357595" cy="3327282"/>
            <a:chOff x="0" y="0"/>
            <a:chExt cx="7143460" cy="443637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812133"/>
              <a:ext cx="7143460" cy="2624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RSS menunjukkan seberapa baik model mendekati data aktual. Semakin kecil nilai RSS, semakin baik model dalam memprediksi nilai variabel dependen.</a:t>
              </a:r>
            </a:p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AutoShape 18" id="18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9" id="19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07923" y="243969"/>
              <a:ext cx="6535538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RSS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82833" y="6374433"/>
            <a:ext cx="5357595" cy="1821697"/>
            <a:chOff x="0" y="0"/>
            <a:chExt cx="7143460" cy="242893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793083"/>
              <a:ext cx="7143460" cy="63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 RSS = 0.02021193652941170000</a:t>
              </a:r>
            </a:p>
          </p:txBody>
        </p:sp>
        <p:sp>
          <p:nvSpPr>
            <p:cNvPr name="AutoShape 24" id="24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5" id="25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607923" y="243969"/>
              <a:ext cx="6535538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RSS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5829" y="6374433"/>
            <a:ext cx="7000208" cy="2368909"/>
            <a:chOff x="0" y="0"/>
            <a:chExt cx="9333611" cy="3158546"/>
          </a:xfrm>
        </p:grpSpPr>
        <p:sp>
          <p:nvSpPr>
            <p:cNvPr name="AutoShape 29" id="29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0" id="30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607923" y="243969"/>
              <a:ext cx="8725689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TSS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793083"/>
              <a:ext cx="9333611" cy="1245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TSS  = 0.00262556083770022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04923" y="8671463"/>
            <a:ext cx="955485" cy="218188"/>
            <a:chOff x="0" y="0"/>
            <a:chExt cx="1273980" cy="290918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0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93118" y="1587"/>
              <a:ext cx="287744" cy="28774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2882833" y="1095375"/>
            <a:ext cx="9805796" cy="11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Evaluasi Performa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35829" y="2244729"/>
            <a:ext cx="7000208" cy="2771499"/>
            <a:chOff x="0" y="0"/>
            <a:chExt cx="9333611" cy="3695333"/>
          </a:xfrm>
        </p:grpSpPr>
        <p:sp>
          <p:nvSpPr>
            <p:cNvPr name="AutoShape 11" id="11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2" id="12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07923" y="243969"/>
              <a:ext cx="8725689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 square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802608"/>
              <a:ext cx="9333611" cy="1772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Nilai R² berkisar antara 0 hingga 1. Nilai mendekati 1 menunjukkan bahwa model dapat menjelaskan sebagian besar variasi dalam data.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882833" y="2244729"/>
            <a:ext cx="5357595" cy="2207777"/>
            <a:chOff x="0" y="0"/>
            <a:chExt cx="7143460" cy="294370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793083"/>
              <a:ext cx="7143460" cy="1150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Semakin kecil nilai RSE, semakin baik model memprediksi data.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9" id="19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07923" y="243969"/>
              <a:ext cx="6535538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RSE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82833" y="6374433"/>
            <a:ext cx="5357595" cy="2278897"/>
            <a:chOff x="0" y="0"/>
            <a:chExt cx="7143460" cy="303853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793083"/>
              <a:ext cx="7143460" cy="1245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 RSE  = 0.003929946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AutoShape 24" id="24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5" id="25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607923" y="243969"/>
              <a:ext cx="6535538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RSE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5829" y="6284421"/>
            <a:ext cx="7000208" cy="2368909"/>
            <a:chOff x="0" y="0"/>
            <a:chExt cx="9333611" cy="3158546"/>
          </a:xfrm>
        </p:grpSpPr>
        <p:sp>
          <p:nvSpPr>
            <p:cNvPr name="AutoShape 29" id="29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0" id="30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607923" y="243969"/>
              <a:ext cx="8725689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 square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793083"/>
              <a:ext cx="9333611" cy="1245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 square =   0.870098501750211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04923" y="8671463"/>
            <a:ext cx="955485" cy="218188"/>
            <a:chOff x="0" y="0"/>
            <a:chExt cx="1273980" cy="290918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0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93118" y="1587"/>
              <a:ext cx="287744" cy="28774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2882833" y="1095375"/>
            <a:ext cx="9805796" cy="11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Evaluasi Performa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03035" y="2244729"/>
            <a:ext cx="7000208" cy="2262229"/>
            <a:chOff x="0" y="0"/>
            <a:chExt cx="9333611" cy="3016306"/>
          </a:xfrm>
        </p:grpSpPr>
        <p:sp>
          <p:nvSpPr>
            <p:cNvPr name="AutoShape 11" id="11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2" id="12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ADJUSTED R SQUARE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802608"/>
              <a:ext cx="9333611" cy="1093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Adjusted R² berguna untuk membandingkan model dengan jumlah variabel independen yang berbeda.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882833" y="2244729"/>
            <a:ext cx="5357595" cy="3327282"/>
            <a:chOff x="0" y="0"/>
            <a:chExt cx="7143460" cy="443637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812133"/>
              <a:ext cx="7143460" cy="2624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Koefisien korelasi R adalah akar dari R² dan mengukur kekuatan serta arah hubungan linear antara variabel independen dan dependen.</a:t>
              </a:r>
            </a:p>
            <a:p>
              <a:pPr algn="l">
                <a:lnSpc>
                  <a:spcPts val="3079"/>
                </a:lnSpc>
              </a:pPr>
            </a:p>
          </p:txBody>
        </p:sp>
        <p:sp>
          <p:nvSpPr>
            <p:cNvPr name="AutoShape 18" id="18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9" id="19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07923" y="243969"/>
              <a:ext cx="6535538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KOEFISIEN KORELASI 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82833" y="6374433"/>
            <a:ext cx="5357595" cy="2278897"/>
            <a:chOff x="0" y="0"/>
            <a:chExt cx="7143460" cy="303853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793083"/>
              <a:ext cx="7143460" cy="1245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 R =  0.9327907063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AutoShape 24" id="24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5" id="25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607923" y="243969"/>
              <a:ext cx="6535538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KOEFISIEN KORELASI 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5829" y="6374433"/>
            <a:ext cx="7000208" cy="2368909"/>
            <a:chOff x="0" y="0"/>
            <a:chExt cx="9333611" cy="3158546"/>
          </a:xfrm>
        </p:grpSpPr>
        <p:sp>
          <p:nvSpPr>
            <p:cNvPr name="AutoShape 29" id="29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0" id="30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ADJUSTED R SQUARE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793083"/>
              <a:ext cx="9333611" cy="1245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 R^2 adj =   0.866949375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04923" y="8671463"/>
            <a:ext cx="955485" cy="218188"/>
            <a:chOff x="0" y="0"/>
            <a:chExt cx="1273980" cy="290918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0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93118" y="1587"/>
              <a:ext cx="287744" cy="28774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2882833" y="1095375"/>
            <a:ext cx="9805796" cy="11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Evaluasi Performa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35829" y="2244729"/>
            <a:ext cx="7000208" cy="2262229"/>
            <a:chOff x="0" y="0"/>
            <a:chExt cx="9333611" cy="3016306"/>
          </a:xfrm>
        </p:grpSpPr>
        <p:sp>
          <p:nvSpPr>
            <p:cNvPr name="AutoShape 11" id="11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2" id="12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07923" y="243969"/>
              <a:ext cx="8725689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ROOT MEAN SQUARE ERROR</a:t>
              </a:r>
            </a:p>
            <a:p>
              <a:pPr algn="l">
                <a:lnSpc>
                  <a:spcPts val="3899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802608"/>
              <a:ext cx="9333611" cy="1093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memberikan gambaran seberapa jauh prediksi model berada dari nilai aktual dalam skala aslinya.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882833" y="2244729"/>
            <a:ext cx="5357595" cy="2546232"/>
            <a:chOff x="0" y="0"/>
            <a:chExt cx="7143460" cy="339497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812133"/>
              <a:ext cx="7143460" cy="1582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Semakin kecil nilai MSE, semakin baik model dalam memprediksi nilai variabel dependen. 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9" id="19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MEAN SQUARE ERROR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82833" y="6374433"/>
            <a:ext cx="5357595" cy="1821697"/>
            <a:chOff x="0" y="0"/>
            <a:chExt cx="7143460" cy="242893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793083"/>
              <a:ext cx="7143460" cy="63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MSE = 0.0000154444755158837</a:t>
              </a:r>
            </a:p>
          </p:txBody>
        </p:sp>
        <p:sp>
          <p:nvSpPr>
            <p:cNvPr name="AutoShape 24" id="24"/>
            <p:cNvSpPr/>
            <p:nvPr/>
          </p:nvSpPr>
          <p:spPr>
            <a:xfrm rot="0">
              <a:off x="0" y="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25" id="25"/>
            <p:cNvSpPr/>
            <p:nvPr/>
          </p:nvSpPr>
          <p:spPr>
            <a:xfrm rot="0">
              <a:off x="0" y="1143000"/>
              <a:ext cx="7143460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607923" y="243969"/>
              <a:ext cx="6535538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MEAN SQUARE ERROR</a:t>
              </a:r>
            </a:p>
            <a:p>
              <a:pPr algn="l">
                <a:lnSpc>
                  <a:spcPts val="38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5829" y="6374433"/>
            <a:ext cx="7000208" cy="1911709"/>
            <a:chOff x="0" y="0"/>
            <a:chExt cx="9333611" cy="2548946"/>
          </a:xfrm>
        </p:grpSpPr>
        <p:sp>
          <p:nvSpPr>
            <p:cNvPr name="AutoShape 29" id="29"/>
            <p:cNvSpPr/>
            <p:nvPr/>
          </p:nvSpPr>
          <p:spPr>
            <a:xfrm rot="0">
              <a:off x="0" y="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30" id="30"/>
            <p:cNvSpPr/>
            <p:nvPr/>
          </p:nvSpPr>
          <p:spPr>
            <a:xfrm rot="0">
              <a:off x="0" y="1143000"/>
              <a:ext cx="9333611" cy="41327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462326"/>
              <a:ext cx="230038" cy="259674"/>
            </a:xfrm>
            <a:custGeom>
              <a:avLst/>
              <a:gdLst/>
              <a:ahLst/>
              <a:cxnLst/>
              <a:rect r="r" b="b" t="t" l="l"/>
              <a:pathLst>
                <a:path h="259674" w="230038">
                  <a:moveTo>
                    <a:pt x="0" y="0"/>
                  </a:moveTo>
                  <a:lnTo>
                    <a:pt x="230038" y="0"/>
                  </a:lnTo>
                  <a:lnTo>
                    <a:pt x="230038" y="259675"/>
                  </a:lnTo>
                  <a:lnTo>
                    <a:pt x="0" y="25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607923" y="243969"/>
              <a:ext cx="8725689" cy="69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9"/>
                </a:lnSpc>
              </a:pPr>
              <a:r>
                <a:rPr lang="en-US" sz="2999" spc="-4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ROOT MEAN SQUARE ERROR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793083"/>
              <a:ext cx="9333611" cy="635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RMSE = 0.003929946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04923" y="8671463"/>
            <a:ext cx="955485" cy="218188"/>
            <a:chOff x="0" y="0"/>
            <a:chExt cx="1273980" cy="290918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0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93118" y="1587"/>
              <a:ext cx="287744" cy="28774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2882833" y="1095375"/>
            <a:ext cx="9805796" cy="11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Evaluasi Performa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16261" y="2573490"/>
            <a:ext cx="5806537" cy="2759594"/>
            <a:chOff x="0" y="0"/>
            <a:chExt cx="7742049" cy="367945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952912"/>
              <a:ext cx="7742049" cy="17265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8"/>
                </a:lnSpc>
              </a:pPr>
              <a:r>
                <a:rPr lang="en-US" sz="2384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Semakin kecil nilai MSE, semakin baik model dalam memprediksi nilai variabel dependen. </a:t>
              </a:r>
            </a:p>
          </p:txBody>
        </p:sp>
        <p:sp>
          <p:nvSpPr>
            <p:cNvPr name="AutoShape 12" id="12"/>
            <p:cNvSpPr/>
            <p:nvPr/>
          </p:nvSpPr>
          <p:spPr>
            <a:xfrm rot="0">
              <a:off x="0" y="0"/>
              <a:ext cx="7742049" cy="44790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3" id="13"/>
            <p:cNvSpPr/>
            <p:nvPr/>
          </p:nvSpPr>
          <p:spPr>
            <a:xfrm rot="0">
              <a:off x="0" y="1238778"/>
              <a:ext cx="7742049" cy="44790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501067"/>
              <a:ext cx="249314" cy="281434"/>
            </a:xfrm>
            <a:custGeom>
              <a:avLst/>
              <a:gdLst/>
              <a:ahLst/>
              <a:cxnLst/>
              <a:rect r="r" b="b" t="t" l="l"/>
              <a:pathLst>
                <a:path h="281434" w="249314">
                  <a:moveTo>
                    <a:pt x="0" y="0"/>
                  </a:moveTo>
                  <a:lnTo>
                    <a:pt x="249314" y="0"/>
                  </a:lnTo>
                  <a:lnTo>
                    <a:pt x="249314" y="281434"/>
                  </a:lnTo>
                  <a:lnTo>
                    <a:pt x="0" y="281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658864" y="300969"/>
              <a:ext cx="7083185" cy="970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6"/>
                </a:lnSpc>
              </a:pPr>
              <a:r>
                <a:rPr lang="en-US" sz="2151" spc="-32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MEAN ABSOLUTE PERCENTAGE ERROR</a:t>
              </a:r>
            </a:p>
            <a:p>
              <a:pPr algn="l">
                <a:lnSpc>
                  <a:spcPts val="279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16261" y="6177550"/>
            <a:ext cx="5806537" cy="2469858"/>
            <a:chOff x="0" y="0"/>
            <a:chExt cx="7742049" cy="329314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952912"/>
              <a:ext cx="7742049" cy="1340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4"/>
                </a:lnSpc>
              </a:pPr>
              <a:r>
                <a:rPr lang="en-US" sz="2817">
                  <a:solidFill>
                    <a:srgbClr val="1A1B18"/>
                  </a:solidFill>
                  <a:latin typeface="Overpass Light"/>
                  <a:ea typeface="Overpass Light"/>
                  <a:cs typeface="Overpass Light"/>
                  <a:sym typeface="Overpass Light"/>
                </a:rPr>
                <a:t> MAPE  = 0.271302641</a:t>
              </a:r>
            </a:p>
            <a:p>
              <a:pPr algn="l">
                <a:lnSpc>
                  <a:spcPts val="3944"/>
                </a:lnSpc>
              </a:pPr>
            </a:p>
          </p:txBody>
        </p:sp>
        <p:sp>
          <p:nvSpPr>
            <p:cNvPr name="AutoShape 18" id="18"/>
            <p:cNvSpPr/>
            <p:nvPr/>
          </p:nvSpPr>
          <p:spPr>
            <a:xfrm rot="0">
              <a:off x="0" y="0"/>
              <a:ext cx="7742049" cy="44790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AutoShape 19" id="19"/>
            <p:cNvSpPr/>
            <p:nvPr/>
          </p:nvSpPr>
          <p:spPr>
            <a:xfrm rot="0">
              <a:off x="0" y="1238778"/>
              <a:ext cx="7742049" cy="44790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501067"/>
              <a:ext cx="249314" cy="281434"/>
            </a:xfrm>
            <a:custGeom>
              <a:avLst/>
              <a:gdLst/>
              <a:ahLst/>
              <a:cxnLst/>
              <a:rect r="r" b="b" t="t" l="l"/>
              <a:pathLst>
                <a:path h="281434" w="249314">
                  <a:moveTo>
                    <a:pt x="0" y="0"/>
                  </a:moveTo>
                  <a:lnTo>
                    <a:pt x="249314" y="0"/>
                  </a:lnTo>
                  <a:lnTo>
                    <a:pt x="249314" y="281434"/>
                  </a:lnTo>
                  <a:lnTo>
                    <a:pt x="0" y="281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58864" y="291444"/>
              <a:ext cx="7083185" cy="1226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8"/>
                </a:lnSpc>
              </a:pPr>
              <a:r>
                <a:rPr lang="en-US" sz="2275" spc="-34">
                  <a:solidFill>
                    <a:srgbClr val="1A1B18"/>
                  </a:solidFill>
                  <a:latin typeface="Overpass Light Bold"/>
                  <a:ea typeface="Overpass Light Bold"/>
                  <a:cs typeface="Overpass Light Bold"/>
                  <a:sym typeface="Overpass Light Bold"/>
                </a:rPr>
                <a:t>MEAN ABSOLUTE PERCENTAGE ERROR</a:t>
              </a:r>
            </a:p>
            <a:p>
              <a:pPr algn="l">
                <a:lnSpc>
                  <a:spcPts val="4226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17605"/>
            <a:ext cx="12999682" cy="135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Kesimpulan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955485" cy="218188"/>
            <a:chOff x="0" y="0"/>
            <a:chExt cx="1273980" cy="290918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AutoShape 10" id="10"/>
          <p:cNvSpPr/>
          <p:nvPr/>
        </p:nvSpPr>
        <p:spPr>
          <a:xfrm rot="0">
            <a:off x="1028700" y="4508025"/>
            <a:ext cx="16230600" cy="9525"/>
          </a:xfrm>
          <a:prstGeom prst="rect">
            <a:avLst/>
          </a:prstGeom>
          <a:solidFill>
            <a:srgbClr val="CDA63C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028700" y="4825530"/>
            <a:ext cx="16230600" cy="300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</a:pPr>
            <a:r>
              <a:rPr lang="en-US" sz="2423">
                <a:solidFill>
                  <a:srgbClr val="1A1B18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Berdasarkan hasil dari 7 evaluasi performa, rata-rata harga penutupan 5 hari sebelumnya, rata-rata harga pembukaan 5 hari sebelumnya, rata-rata harga tertinggi 5 hari sebelumnya, dan rata-rata harga terendah 5 hari sebelumnya dapat digunakan untuk memprediksi harga penutupan harian EUR/USD. Hal ini dibuktikan dengan hasil R= 0.9327907063, R^2=0.870098501750211, dan RMSE = 0.003929946. Keempat elemen tersebut dipilih karena memiliki hubungan yang signifikan dengan harga penutupan harian, di mana prediksi tersebut menunjukkan tingkat kesalahan yang rendah.</a:t>
            </a:r>
          </a:p>
          <a:p>
            <a:pPr algn="l">
              <a:lnSpc>
                <a:spcPts val="3392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68820" y="8671463"/>
            <a:ext cx="955485" cy="218188"/>
            <a:chOff x="0" y="0"/>
            <a:chExt cx="1273980" cy="290918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489944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587"/>
              <a:ext cx="287744" cy="28774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2092924" y="4389209"/>
            <a:ext cx="15314038" cy="4391349"/>
            <a:chOff x="0" y="0"/>
            <a:chExt cx="20418718" cy="5855132"/>
          </a:xfrm>
        </p:grpSpPr>
        <p:sp>
          <p:nvSpPr>
            <p:cNvPr name="AutoShape 10" id="10"/>
            <p:cNvSpPr/>
            <p:nvPr/>
          </p:nvSpPr>
          <p:spPr>
            <a:xfrm rot="0">
              <a:off x="0" y="5816866"/>
              <a:ext cx="20418718" cy="38266"/>
            </a:xfrm>
            <a:prstGeom prst="rect">
              <a:avLst/>
            </a:prstGeom>
            <a:solidFill>
              <a:srgbClr val="CDA63C"/>
            </a:solid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76200"/>
              <a:ext cx="20418718" cy="1823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305"/>
                </a:lnSpc>
              </a:pPr>
              <a:r>
                <a:rPr lang="en-US" sz="9368" b="true">
                  <a:solidFill>
                    <a:srgbClr val="1A1B1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Market Discounts Everything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4550" y="1300133"/>
            <a:ext cx="12291569" cy="107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0"/>
              </a:lnSpc>
            </a:pPr>
            <a:r>
              <a:rPr lang="en-US" sz="7618" b="true">
                <a:solidFill>
                  <a:srgbClr val="1A1B1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Referensi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76550"/>
            <a:ext cx="16604309" cy="65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9"/>
              </a:lnSpc>
              <a:spcBef>
                <a:spcPct val="0"/>
              </a:spcBef>
            </a:pPr>
            <a:r>
              <a:rPr lang="en-US" sz="3069" spc="-46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Manoj, J., &amp; Suresh, K. K. (2019). Forecast model for price of gold: Multiple linear regression with principal component analysis. Thailand Statistician, 17(1), 125-131.</a:t>
            </a:r>
          </a:p>
          <a:p>
            <a:pPr algn="ctr">
              <a:lnSpc>
                <a:spcPts val="3989"/>
              </a:lnSpc>
              <a:spcBef>
                <a:spcPct val="0"/>
              </a:spcBef>
            </a:pPr>
            <a:r>
              <a:rPr lang="en-US" sz="3069" spc="-46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Oetama, R. S., Gaol, F. L., Soewito, B., &amp; Warnars, H. L. H. S. (2022). Finding Features of Multiple Linear Regression On Currency Exchange Pairs. Ultima InfoSys: Jurnal Ilmu Sistem Informasi, 13(1), 46-53.</a:t>
            </a:r>
          </a:p>
          <a:p>
            <a:pPr algn="ctr">
              <a:lnSpc>
                <a:spcPts val="3989"/>
              </a:lnSpc>
              <a:spcBef>
                <a:spcPct val="0"/>
              </a:spcBef>
            </a:pPr>
            <a:r>
              <a:rPr lang="en-US" sz="3069" spc="-46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Tyasnurita, R., Luthfiansyah, R. R., &amp; Brameswara, M. R. (2023). GOLD PRICE FORECASTING USING MULTIPLE LINEAR REGRESSION METHOD. JURTEKSI (Jurnal Teknologi dan Sistem Informasi), 9(3), 339-344.</a:t>
            </a:r>
          </a:p>
          <a:p>
            <a:pPr algn="ctr">
              <a:lnSpc>
                <a:spcPts val="3989"/>
              </a:lnSpc>
              <a:spcBef>
                <a:spcPct val="0"/>
              </a:spcBef>
            </a:pPr>
            <a:r>
              <a:rPr lang="en-US" sz="3069" spc="-46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Lönnegren, W., &amp; Sälgfors, R. (2021). Exchange rate determinations-A multiple linear regression analysis on the correlation between exchange rate, interest rate and inflation rate.</a:t>
            </a:r>
          </a:p>
          <a:p>
            <a:pPr algn="ctr">
              <a:lnSpc>
                <a:spcPts val="3989"/>
              </a:lnSpc>
              <a:spcBef>
                <a:spcPct val="0"/>
              </a:spcBef>
            </a:pPr>
            <a:r>
              <a:rPr lang="en-US" sz="3069" spc="-46">
                <a:solidFill>
                  <a:srgbClr val="1A1B18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Tu, T., &amp; Zeng, Q. (2024, January). China's foreign exchange reserves correlation analysis and forecast. In Proceedings of the 2024 Guangdong-Hong Kong-Macao Greater Bay Area International Conference on Digital Economy and Artificial Intelligence (pp. 259-270).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16190"/>
            <a:ext cx="5937162" cy="3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</a:p>
        </p:txBody>
      </p:sp>
      <p:sp>
        <p:nvSpPr>
          <p:cNvPr name="AutoShape 3" id="3"/>
          <p:cNvSpPr/>
          <p:nvPr/>
        </p:nvSpPr>
        <p:spPr>
          <a:xfrm rot="-10800000">
            <a:off x="1320290" y="1476375"/>
            <a:ext cx="28575" cy="8229600"/>
          </a:xfrm>
          <a:prstGeom prst="rect">
            <a:avLst/>
          </a:prstGeom>
          <a:solidFill>
            <a:srgbClr val="CDA63C"/>
          </a:solidFill>
        </p:spPr>
      </p:sp>
      <p:grpSp>
        <p:nvGrpSpPr>
          <p:cNvPr name="Group 4" id="4"/>
          <p:cNvGrpSpPr/>
          <p:nvPr/>
        </p:nvGrpSpPr>
        <p:grpSpPr>
          <a:xfrm rot="5400000">
            <a:off x="16613342" y="8671463"/>
            <a:ext cx="955485" cy="218188"/>
            <a:chOff x="0" y="0"/>
            <a:chExt cx="1273980" cy="290918"/>
          </a:xfrm>
        </p:grpSpPr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983062" y="0"/>
              <a:ext cx="290918" cy="290918"/>
              <a:chOff x="0" y="0"/>
              <a:chExt cx="1708150" cy="170815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290918" cy="290918"/>
              <a:chOff x="0" y="0"/>
              <a:chExt cx="1708150" cy="170815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1A1B18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93118" y="1587"/>
              <a:ext cx="287744" cy="28774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DA63C"/>
              </a:solid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2297551" y="4098287"/>
            <a:ext cx="12766153" cy="175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9"/>
              </a:lnSpc>
              <a:spcBef>
                <a:spcPct val="0"/>
              </a:spcBef>
            </a:pPr>
            <a:r>
              <a:rPr lang="en-US" sz="9399" spc="-140">
                <a:solidFill>
                  <a:srgbClr val="000000"/>
                </a:solidFill>
                <a:latin typeface="Overpass Light Bold"/>
                <a:ea typeface="Overpass Light Bold"/>
                <a:cs typeface="Overpass Light Bold"/>
                <a:sym typeface="Overpass Ligh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DAGThTnBD9w</dc:identifier>
  <dcterms:modified xsi:type="dcterms:W3CDTF">2011-08-01T06:04:30Z</dcterms:modified>
  <cp:revision>1</cp:revision>
  <dc:title>Presentasi Rapat Perusahaan Elegan Minimalis Putih, Hitam, dan Beige Samar</dc:title>
</cp:coreProperties>
</file>